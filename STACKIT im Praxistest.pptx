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Begrüßung. Kurz vorstellen. Versprechen des Abstracts wiederholen: keine Marketingfolien, sondern eine echte App, live deployt, mit allem, was schiefgehen kann.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vier Fragen aus dem Abstract. Am Ende beantworte ich jede davon explizit, mit einer Ampel pro Service und einer Einordnung gegenüber Azure.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Teile, der Großteil ist Live-Demo. Fragen gerne jederzeit in die App – der QR-Code kommt gleich.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Herstellerneutral: Das ist die Einkaufsliste für eine ganz normale Business-App. JavaScript-Frontend und -Backend als Container, eine Managed Datenbank, davor Load Balancer. Was oft vergessen wird: Registry, Pipeline, Secrets, Observability und ein Identity Provider.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jede Box hat einen STACKIT-Dienst. Gestrichelt in Orange: was ich selbst betreibe – Ingress und Keycloak. Gepunktet: die Container Registry, die ich nicht per Terraform anlegen kann. Die Legende sage ich mündlich: orange gestrichelt heißt selbst betrieben, grau gepunktet heißt manuell im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Jetzt schon den QR-Code zeigen, damit die ersten Fragen eintrudeln, während ich die Infrastruktur erkläre. Selbstregistrierung ist im Keycloak-Realm aktiv.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 hier Terminal und Browser. Infrastruktur steht bereits – SKE und PostgreSQL brauchen zusammen 15 bis 25 Minuten, das zeige ich nicht live, sondern die Zahlen aus der Generalprobe.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 Stacks, weil Kubernetes- und Vault-Provider erst konfiguriert werden können, wenn Cluster und Secrets Manager existieren. Positiv hervorheben: ExternalDNS und Observability sind als SKE-Extension gemanagt – zwei Zeilen statt zwei Helm-Charts. Live: terraform plan zeigt No changes, dann eine kleine Änderung planen.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 Provider 0.117, September 2026. Ehrlich einordnen: Der Provider wächst schnell, viele Ressourcen sind neu. Aber genau diese Lücken spürt man als DevOps Engineer beim ersten Aufbau. Für die Registry wäre der Harbor-Terraform-Provider ein Workaround.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 ist der Kern der Developer-Experience-Frage. Bei Azure Container Apps wären Ingress und Zertifikate eine Einstellung, Secrets kämen per Key-Vault-Referenz, Identity über Entra. Hier ist es Kubernetes-Handwerk – solide und portabel, aber Arbeit.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 schönes positives Beispiel für Portabilität: kein proprietäres SDK, sondern Vault-Kompatibilität. Mount-Pfad ist die Instanz-ID, Login per userpass. Die DB-Passwörter sieht nie ein Mensch.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committen, Actions-Tab öffnen. Während der Build läuft: STACKIT beschreibt die Workflow-Syntax als vertraut, aber ausdrücklich nicht identisch zu GitHub Actions. Meine Erfahrung aus der Generalprobe hier ergänzen: [Stolperstein aus dem DX-Logbuch].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Jetzt als speaker anmelden und die Fragen aus dem Publikum zusammenfassen lassen. Hinweis zur Modellpflege: STACKIT hat z. B. für Qwen einen Nachfolger eingeführt und eine Migrationsfrist gesetzt – das Modell ist deshalb bei mir eine Variable, keine Konstante.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ehrlichste Vergleichspunkt zu Azure: Dort konfiguriere ich Entra External ID, hier betreibe ich den sicherheitskritischsten Dienst der App selbst. Gegenargument fair nennen: Keycloak ist Open Source und portabel.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29 Dateien stimmen für das Repo (infra, k8s, .forgejo). Die beiden Zeiten aus der Generalprobe eintragen – docs/dx-logbuch.md. Keine geschätzten Werte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Meine Einschätzung, Stand September 2026, für den Anwendungsfall dieser Demo. Nach der Generalprobe mit den eigenen Erfahrungen abgleichen und ggf. anpassen. Wichtig: produktionsreif heißt hier GA plus brauchbare Terraform-Unterstützung plus Standard-Schnittstellen.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Nicht als Wertung lesen, sondern als Landkarte. Azure hat die größere Breite und mehr Abstraktionsebenen. STACKIT setzt stärker auf offene Standards: S3, Vault, OpenAI-API, Kubernetes, Forgejo. Das senkt Lock-in, erhöht aber den Eigenanteil am Betrieb.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Hier die eigentliche Antwort auf die Titelfrage. Mein Kriterium: Wie viel Plattform muss das Team selbst betreiben, und ist es darauf vorbereitet?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Zusammenfassung in einem Satz. Dann direkt in die Fragen aus der App überleiten – die KI-Zusammenfassung vom Speaker-Account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Offene Fragen aus der App nach Stimmen abarbeiten. Hinweis auf das Repo mit README und Demo-Drehbuch. Nicht vergessen: nach dem Vortrag terraform destroy.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FC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InfoDays: Software-Architektur  ·  07.10.2026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01330"/>
            <a:ext cx="1088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i="0" spc="-150" kern="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STACKIT im Praxistest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812800" y="3793530"/>
            <a:ext cx="10883392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Deployment, Developer Experience und Architektur-Fit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576074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Florian Lenz  ·  Cloud Architekt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Die eine Frage hinter diesem Vortrag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441"/>
            <a:ext cx="10883392" cy="1869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40"/>
              </a:lnSpc>
              <a:buNone/>
            </a:pPr>
            <a:r>
              <a:rPr lang="en-US" sz="4400" b="1" spc="-50" kern="0" dirty="0">
                <a:solidFill>
                  <a:srgbClr val="2A55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Kann ich meine nächste Anwendung heute auf STACKIT betreiben und wie fühlt sich das an?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3769221"/>
            <a:ext cx="53632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Wie gut ist die Developer Experience?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72200" y="3769221"/>
            <a:ext cx="53632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Welche Services sind produktionsreif?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206081"/>
            <a:ext cx="53632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 gibt es noch Einschränkungen?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72200" y="4206081"/>
            <a:ext cx="536321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Für welche Workloads passt es heute?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Ablauf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39491"/>
            <a:ext cx="2489200" cy="0"/>
          </a:xfrm>
          <a:prstGeom prst="line">
            <a:avLst/>
          </a:prstGeom>
          <a:noFill/>
          <a:ln w="38100">
            <a:solidFill>
              <a:srgbClr val="2A55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861741"/>
            <a:ext cx="2563876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A55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2628801"/>
            <a:ext cx="256387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Architektur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3091061"/>
            <a:ext cx="256387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Was eine typische App braucht und was STACKIT davon abdeckt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05200" y="1639491"/>
            <a:ext cx="2489200" cy="0"/>
          </a:xfrm>
          <a:prstGeom prst="line">
            <a:avLst/>
          </a:prstGeom>
          <a:noFill/>
          <a:ln w="38100">
            <a:solidFill>
              <a:srgbClr val="2A55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5200" y="1861741"/>
            <a:ext cx="2563876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A55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05200" y="2628801"/>
            <a:ext cx="256387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Live-Demo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05200" y="3091061"/>
            <a:ext cx="25638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Terraform, Forgejo-Pipeline, App im Publikum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97600" y="1639491"/>
            <a:ext cx="2489200" cy="0"/>
          </a:xfrm>
          <a:prstGeom prst="line">
            <a:avLst/>
          </a:prstGeom>
          <a:noFill/>
          <a:ln w="38100">
            <a:solidFill>
              <a:srgbClr val="2A55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7600" y="1861741"/>
            <a:ext cx="2563876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A55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197600" y="2628801"/>
            <a:ext cx="256387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Bewertung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97600" y="3091061"/>
            <a:ext cx="25638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Reifegrad pro Service, Stolpersteine, Zahlen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890000" y="1639491"/>
            <a:ext cx="2489200" cy="0"/>
          </a:xfrm>
          <a:prstGeom prst="line">
            <a:avLst/>
          </a:prstGeom>
          <a:noFill/>
          <a:ln w="38100">
            <a:solidFill>
              <a:srgbClr val="2A55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90000" y="1861741"/>
            <a:ext cx="2563876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2A55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890000" y="2628801"/>
            <a:ext cx="256387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Einordnung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90000" y="3091061"/>
            <a:ext cx="25638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Vergleich mit Azure und passende Workloads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Was eine Anwendung heute braucht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47441"/>
            <a:ext cx="13208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12975" y="1623616"/>
            <a:ext cx="2965450" cy="725091"/>
          </a:xfrm>
          <a:prstGeom prst="roundRect">
            <a:avLst>
              <a:gd name="adj" fmla="val 8320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68550" y="1753791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DNS &amp; TLS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68550" y="2005211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Domain, Zertifikate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11775" y="1623616"/>
            <a:ext cx="2965450" cy="725091"/>
          </a:xfrm>
          <a:prstGeom prst="roundRect">
            <a:avLst>
              <a:gd name="adj" fmla="val 8320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67350" y="1753791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CDN / WAF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67350" y="2005211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0575" y="1623616"/>
            <a:ext cx="2965450" cy="725091"/>
          </a:xfrm>
          <a:prstGeom prst="roundRect">
            <a:avLst>
              <a:gd name="adj" fmla="val 8320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6150" y="1753791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Balancer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66150" y="2005211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Ingress, Routing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2605881"/>
            <a:ext cx="13208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Laufzeit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12975" y="2482056"/>
            <a:ext cx="2965450" cy="725091"/>
          </a:xfrm>
          <a:prstGeom prst="roundRect">
            <a:avLst>
              <a:gd name="adj" fmla="val 8320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8550" y="2612231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68550" y="2863652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11775" y="2482056"/>
            <a:ext cx="2965450" cy="725091"/>
          </a:xfrm>
          <a:prstGeom prst="roundRect">
            <a:avLst>
              <a:gd name="adj" fmla="val 8320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7350" y="2612231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Backend-API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67350" y="2863652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410575" y="2482056"/>
            <a:ext cx="2965450" cy="725091"/>
          </a:xfrm>
          <a:prstGeom prst="roundRect">
            <a:avLst>
              <a:gd name="adj" fmla="val 8320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66150" y="2612231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 Provider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66150" y="2863652"/>
            <a:ext cx="27339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Login, Rollen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3464322"/>
            <a:ext cx="13208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12975" y="3340497"/>
            <a:ext cx="2190750" cy="725091"/>
          </a:xfrm>
          <a:prstGeom prst="roundRect">
            <a:avLst>
              <a:gd name="adj" fmla="val 8320"/>
            </a:avLst>
          </a:prstGeom>
          <a:solidFill>
            <a:srgbClr val="E3EAFB"/>
          </a:solidFill>
          <a:ln w="6350">
            <a:solidFill>
              <a:srgbClr val="9FB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68550" y="347067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Datenbank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368550" y="372209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37075" y="3340497"/>
            <a:ext cx="2190750" cy="725091"/>
          </a:xfrm>
          <a:prstGeom prst="roundRect">
            <a:avLst>
              <a:gd name="adj" fmla="val 8320"/>
            </a:avLst>
          </a:prstGeom>
          <a:solidFill>
            <a:srgbClr val="E3EAFB"/>
          </a:solidFill>
          <a:ln w="6350">
            <a:solidFill>
              <a:srgbClr val="9FB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2650" y="347067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92650" y="372209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61175" y="3340497"/>
            <a:ext cx="2190750" cy="725091"/>
          </a:xfrm>
          <a:prstGeom prst="roundRect">
            <a:avLst>
              <a:gd name="adj" fmla="val 8320"/>
            </a:avLst>
          </a:prstGeom>
          <a:solidFill>
            <a:srgbClr val="E3EAFB"/>
          </a:solidFill>
          <a:ln w="6350">
            <a:solidFill>
              <a:srgbClr val="9FB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16750" y="347067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 Storage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16750" y="372209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Dateien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85275" y="3340497"/>
            <a:ext cx="2190750" cy="725091"/>
          </a:xfrm>
          <a:prstGeom prst="roundRect">
            <a:avLst>
              <a:gd name="adj" fmla="val 8320"/>
            </a:avLst>
          </a:prstGeom>
          <a:solidFill>
            <a:srgbClr val="E3EAFB"/>
          </a:solidFill>
          <a:ln w="6350">
            <a:solidFill>
              <a:srgbClr val="9FB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40850" y="347067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Queue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40850" y="372209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4322763"/>
            <a:ext cx="13208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Plattform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212975" y="4198938"/>
            <a:ext cx="1725910" cy="725091"/>
          </a:xfrm>
          <a:prstGeom prst="roundRect">
            <a:avLst>
              <a:gd name="adj" fmla="val 8320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368550" y="4329113"/>
            <a:ext cx="1465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368550" y="4580533"/>
            <a:ext cx="1465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072235" y="4198938"/>
            <a:ext cx="1726009" cy="725091"/>
          </a:xfrm>
          <a:prstGeom prst="roundRect">
            <a:avLst>
              <a:gd name="adj" fmla="val 8320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27810" y="4329113"/>
            <a:ext cx="14656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CI/CD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227810" y="4580533"/>
            <a:ext cx="14656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Build, Deploy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31595" y="4198938"/>
            <a:ext cx="1725910" cy="725091"/>
          </a:xfrm>
          <a:prstGeom prst="roundRect">
            <a:avLst>
              <a:gd name="adj" fmla="val 8320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7170" y="4329113"/>
            <a:ext cx="1465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087170" y="4580533"/>
            <a:ext cx="1465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790855" y="4198938"/>
            <a:ext cx="1725910" cy="725091"/>
          </a:xfrm>
          <a:prstGeom prst="roundRect">
            <a:avLst>
              <a:gd name="adj" fmla="val 8320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46430" y="4329113"/>
            <a:ext cx="1465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Secrets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946430" y="4580533"/>
            <a:ext cx="1465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Vault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650115" y="4198938"/>
            <a:ext cx="1725910" cy="725091"/>
          </a:xfrm>
          <a:prstGeom prst="roundRect">
            <a:avLst>
              <a:gd name="adj" fmla="val 8320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05690" y="4329113"/>
            <a:ext cx="1465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805690" y="4580533"/>
            <a:ext cx="14655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Logs, Metriken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Dieselbe Architektur mit STACKIT-Diensten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747441"/>
            <a:ext cx="1320800" cy="655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12975" y="1623616"/>
            <a:ext cx="2956917" cy="750491"/>
          </a:xfrm>
          <a:prstGeom prst="roundRect">
            <a:avLst>
              <a:gd name="adj" fmla="val 8038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68550" y="1753791"/>
            <a:ext cx="27251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DNS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368550" y="2005211"/>
            <a:ext cx="27251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runs.onstackit.cloud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242" y="1623616"/>
            <a:ext cx="2957016" cy="750491"/>
          </a:xfrm>
          <a:prstGeom prst="roundRect">
            <a:avLst>
              <a:gd name="adj" fmla="val 8038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8817" y="1753791"/>
            <a:ext cx="27252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CDN + WAF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58817" y="2005211"/>
            <a:ext cx="27252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99959" y="1629966"/>
            <a:ext cx="2969716" cy="737791"/>
          </a:xfrm>
          <a:prstGeom prst="roundRect">
            <a:avLst>
              <a:gd name="adj" fmla="val 7316"/>
            </a:avLst>
          </a:prstGeom>
          <a:solidFill>
            <a:srgbClr val="FFF6E0"/>
          </a:solidFill>
          <a:ln w="19050">
            <a:solidFill>
              <a:srgbClr val="E3A21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561884" y="1766491"/>
            <a:ext cx="27252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Traefik + NLB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61884" y="2017911"/>
            <a:ext cx="27252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selbst im Cluster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2631281"/>
            <a:ext cx="1320800" cy="655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Laufzeit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12975" y="2507456"/>
            <a:ext cx="2956917" cy="750491"/>
          </a:xfrm>
          <a:prstGeom prst="roundRect">
            <a:avLst>
              <a:gd name="adj" fmla="val 8038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68550" y="2637631"/>
            <a:ext cx="27251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SKE: Frontend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368550" y="2889052"/>
            <a:ext cx="27251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nginx, Node.js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03242" y="2507456"/>
            <a:ext cx="2957016" cy="750491"/>
          </a:xfrm>
          <a:prstGeom prst="roundRect">
            <a:avLst>
              <a:gd name="adj" fmla="val 8038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58817" y="2637631"/>
            <a:ext cx="27252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SKE: Backend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58817" y="2889052"/>
            <a:ext cx="27252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Node.js 22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99959" y="2513806"/>
            <a:ext cx="2969716" cy="737791"/>
          </a:xfrm>
          <a:prstGeom prst="roundRect">
            <a:avLst>
              <a:gd name="adj" fmla="val 7316"/>
            </a:avLst>
          </a:prstGeom>
          <a:solidFill>
            <a:srgbClr val="FFF6E0"/>
          </a:solidFill>
          <a:ln w="19050">
            <a:solidFill>
              <a:srgbClr val="E3A21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561884" y="2650331"/>
            <a:ext cx="27252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Keycloak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61884" y="2901752"/>
            <a:ext cx="27252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selbst betrieben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2800" y="3515122"/>
            <a:ext cx="132080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212975" y="3391297"/>
            <a:ext cx="2190750" cy="725091"/>
          </a:xfrm>
          <a:prstGeom prst="roundRect">
            <a:avLst>
              <a:gd name="adj" fmla="val 8320"/>
            </a:avLst>
          </a:prstGeom>
          <a:solidFill>
            <a:srgbClr val="E3EAFB"/>
          </a:solidFill>
          <a:ln w="6350">
            <a:solidFill>
              <a:srgbClr val="9FB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68550" y="352147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Flex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368550" y="377289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+ Keycloak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37075" y="3391297"/>
            <a:ext cx="2190750" cy="725091"/>
          </a:xfrm>
          <a:prstGeom prst="roundRect">
            <a:avLst>
              <a:gd name="adj" fmla="val 8320"/>
            </a:avLst>
          </a:prstGeom>
          <a:solidFill>
            <a:srgbClr val="E3EAFB"/>
          </a:solidFill>
          <a:ln w="6350">
            <a:solidFill>
              <a:srgbClr val="9FB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2650" y="352147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Redis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92650" y="377289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61175" y="3391297"/>
            <a:ext cx="2190750" cy="725091"/>
          </a:xfrm>
          <a:prstGeom prst="roundRect">
            <a:avLst>
              <a:gd name="adj" fmla="val 8320"/>
            </a:avLst>
          </a:prstGeom>
          <a:solidFill>
            <a:srgbClr val="E3EAFB"/>
          </a:solidFill>
          <a:ln w="6350">
            <a:solidFill>
              <a:srgbClr val="9FB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16750" y="352147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Object Storage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16750" y="377289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S3-API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85275" y="3391297"/>
            <a:ext cx="2190750" cy="725091"/>
          </a:xfrm>
          <a:prstGeom prst="roundRect">
            <a:avLst>
              <a:gd name="adj" fmla="val 8320"/>
            </a:avLst>
          </a:prstGeom>
          <a:solidFill>
            <a:srgbClr val="E3EAFB"/>
          </a:solidFill>
          <a:ln w="6350">
            <a:solidFill>
              <a:srgbClr val="9FB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40850" y="352147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RabbitMQ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340850" y="3772892"/>
            <a:ext cx="19359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optional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12800" y="4373563"/>
            <a:ext cx="1320800" cy="655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Plattform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219325" y="4256088"/>
            <a:ext cx="1733550" cy="737791"/>
          </a:xfrm>
          <a:prstGeom prst="roundRect">
            <a:avLst>
              <a:gd name="adj" fmla="val 7316"/>
            </a:avLst>
          </a:prstGeom>
          <a:solidFill>
            <a:srgbClr val="F9FAFB"/>
          </a:solidFill>
          <a:ln w="19050">
            <a:solidFill>
              <a:srgbClr val="4A5563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2381250" y="4392613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381250" y="4644033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manuell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092575" y="4249738"/>
            <a:ext cx="1720850" cy="750491"/>
          </a:xfrm>
          <a:prstGeom prst="roundRect">
            <a:avLst>
              <a:gd name="adj" fmla="val 8038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48150" y="4379913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Git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248150" y="4631333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Forgejo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46775" y="4249738"/>
            <a:ext cx="1720850" cy="750491"/>
          </a:xfrm>
          <a:prstGeom prst="roundRect">
            <a:avLst>
              <a:gd name="adj" fmla="val 8038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2350" y="4379913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102350" y="4631333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Provider 0.117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800975" y="4249738"/>
            <a:ext cx="1720850" cy="750491"/>
          </a:xfrm>
          <a:prstGeom prst="roundRect">
            <a:avLst>
              <a:gd name="adj" fmla="val 8038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56550" y="4379913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Secrets Mgr.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956550" y="4631333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Vault-API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655175" y="4249738"/>
            <a:ext cx="1720850" cy="750491"/>
          </a:xfrm>
          <a:prstGeom prst="roundRect">
            <a:avLst>
              <a:gd name="adj" fmla="val 8038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10750" y="4379913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810750" y="4631333"/>
            <a:ext cx="1460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Grafana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Die Demo-App: askit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274491"/>
            <a:ext cx="7325360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Ihr stellt Fragen zum Vortrag und stimmt ab. Ich markiere Beantwortetes und lasse die offenen Fragen per KI zusammenfassen.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3480991"/>
            <a:ext cx="73253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Klein, aber mit allem, was eine echte App braucht: Login, Datenbank, Datei-Upload, KI-Aufruf, Metriken.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37550" y="1626791"/>
            <a:ext cx="3035300" cy="3035300"/>
          </a:xfrm>
          <a:prstGeom prst="roundRect">
            <a:avLst>
              <a:gd name="adj" fmla="val 3138"/>
            </a:avLst>
          </a:prstGeom>
          <a:solidFill>
            <a:srgbClr val="F9FAFB"/>
          </a:solidFill>
          <a:ln w="12700">
            <a:solidFill>
              <a:srgbClr val="4A556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8803531" y="2835870"/>
            <a:ext cx="210323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[QR-Code zur App]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0052" y="3221930"/>
            <a:ext cx="253019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[app.….runs.onstackit.cloud]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5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362200"/>
            <a:ext cx="10883392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4DE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Teil 2</a:t>
            </a:r>
            <a:endParaRPr lang="en-US" sz="18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88538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000"/>
              </a:lnSpc>
              <a:buNone/>
            </a:pPr>
            <a:r>
              <a:rPr lang="en-US" sz="8000" b="1" i="0" spc="-150" kern="0" dirty="0">
                <a:solidFill>
                  <a:srgbClr val="F4F6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Live-Demo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812800" y="41045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2E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Vom leeren Projekt bis zur App im Publikum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Akt 1: Infrastruktur in zwei Terraform-Stacks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441"/>
            <a:ext cx="6705600" cy="3479800"/>
          </a:xfrm>
          <a:prstGeom prst="roundRect">
            <a:avLst>
              <a:gd name="adj" fmla="val 2190"/>
            </a:avLst>
          </a:prstGeom>
          <a:solidFill>
            <a:srgbClr val="16202A"/>
          </a:solidFill>
          <a:ln/>
        </p:spPr>
        <p:txBody>
          <a:bodyPr wrap="square" lIns="282482" tIns="231682" rIns="99602" bIns="20628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resource "stackit_ske_cluster" "main"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name = "askit"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extensions =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dns =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enabled = true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zones   = [stackit_dns_zone.main.dns_name]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observability =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enabled     = true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instance_id = stackit_observability_instance...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23200" y="1620441"/>
            <a:ext cx="36626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10-cloud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23200" y="1925241"/>
            <a:ext cx="366268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SKE, PostgreSQL Flex, Object Storage, DNS, Secrets Manager, Observability, Git, KI-Token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23200" y="2874963"/>
            <a:ext cx="366268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20-platform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23200" y="3179763"/>
            <a:ext cx="366268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Traefik, cert-manager, External Secrets, Secrets befüllen, CI-Zugang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Was nicht per Terraform ging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9150" y="1626791"/>
            <a:ext cx="3373934" cy="2247900"/>
          </a:xfrm>
          <a:prstGeom prst="roundRect">
            <a:avLst>
              <a:gd name="adj" fmla="val 3107"/>
            </a:avLst>
          </a:prstGeom>
          <a:solidFill>
            <a:srgbClr val="F9FAFB"/>
          </a:solidFill>
          <a:ln w="12700">
            <a:solidFill>
              <a:srgbClr val="16202A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1079500" y="1887141"/>
            <a:ext cx="293883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 Registry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9500" y="2280841"/>
            <a:ext cx="2938831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Harbor unter registry.onstackit.cloud. Projekt und Robot Accounts im Portal, das Token wird nur einmal angezeigt.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8984" y="1626791"/>
            <a:ext cx="3374033" cy="2247900"/>
          </a:xfrm>
          <a:prstGeom prst="roundRect">
            <a:avLst>
              <a:gd name="adj" fmla="val 3107"/>
            </a:avLst>
          </a:prstGeom>
          <a:solidFill>
            <a:srgbClr val="F9FAFB"/>
          </a:solidFill>
          <a:ln w="12700">
            <a:solidFill>
              <a:srgbClr val="16202A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669334" y="1887141"/>
            <a:ext cx="2938933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Git-Runner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9334" y="2280841"/>
            <a:ext cx="2938933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Managed Runner werden im Portal aktiviert. Die Instanz selbst ist in Terraform eine Beta-Ressource.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8916" y="1626791"/>
            <a:ext cx="3373934" cy="2247900"/>
          </a:xfrm>
          <a:prstGeom prst="roundRect">
            <a:avLst>
              <a:gd name="adj" fmla="val 3107"/>
            </a:avLst>
          </a:prstGeom>
          <a:solidFill>
            <a:srgbClr val="F9FAFB"/>
          </a:solidFill>
          <a:ln w="12700">
            <a:solidFill>
              <a:srgbClr val="16202A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8259266" y="1887141"/>
            <a:ext cx="2938831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ALB für SKE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59266" y="2280841"/>
            <a:ext cx="2938831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Die Erweiterung ist Private Preview. Deshalb Traefik plus automatisch erzeugter Network Load Balancer.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Plattform-Arbeit, die ich selbst übernehme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5175250" cy="1441450"/>
          </a:xfrm>
          <a:prstGeom prst="roundRect">
            <a:avLst>
              <a:gd name="adj" fmla="val 5066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48007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Ingress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3150" y="2274491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Traefik per Helm, NLB entsteht automatisch aus dem Service.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23616"/>
            <a:ext cx="5175250" cy="1441450"/>
          </a:xfrm>
          <a:prstGeom prst="roundRect">
            <a:avLst>
              <a:gd name="adj" fmla="val 5066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880791"/>
            <a:ext cx="48007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Zertifikate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57950" y="2274491"/>
            <a:ext cx="49149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cert-manager mit Let's Encrypt, HTTP-01 über Traefik.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15975" y="3274616"/>
            <a:ext cx="5175250" cy="1441450"/>
          </a:xfrm>
          <a:prstGeom prst="roundRect">
            <a:avLst>
              <a:gd name="adj" fmla="val 5066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3150" y="3531791"/>
            <a:ext cx="48007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Secret-Sync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73150" y="3925491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External Secrets Operator liest den Secrets Manager über die Vault-API.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00775" y="3274616"/>
            <a:ext cx="5175250" cy="1441450"/>
          </a:xfrm>
          <a:prstGeom prst="roundRect">
            <a:avLst>
              <a:gd name="adj" fmla="val 5066"/>
            </a:avLst>
          </a:prstGeom>
          <a:solidFill>
            <a:srgbClr val="FFF6E0"/>
          </a:solidFill>
          <a:ln w="6350">
            <a:solidFill>
              <a:srgbClr val="E3A2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7950" y="3531791"/>
            <a:ext cx="4800727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57950" y="3925491"/>
            <a:ext cx="480072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Keycloak mit eigener Datenbank, Realm-Import beim Start.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Secrets: ein Weg, keine Kopien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1822450" cy="943570"/>
          </a:xfrm>
          <a:prstGeom prst="roundRect">
            <a:avLst>
              <a:gd name="adj" fmla="val 7739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1550" y="1829991"/>
            <a:ext cx="156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71550" y="2147491"/>
            <a:ext cx="1562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schreibt Secrets</a:t>
            </a:r>
            <a:endParaRPr lang="en-US" sz="12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41600" y="2006501"/>
            <a:ext cx="355600" cy="177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00375" y="1623616"/>
            <a:ext cx="1822450" cy="943570"/>
          </a:xfrm>
          <a:prstGeom prst="roundRect">
            <a:avLst>
              <a:gd name="adj" fmla="val 7739"/>
            </a:avLst>
          </a:prstGeom>
          <a:solidFill>
            <a:srgbClr val="2A55D4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55950" y="1829991"/>
            <a:ext cx="1663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4F6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Secrets Manager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155950" y="2147491"/>
            <a:ext cx="1562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DCE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Vault-API, KV v2</a:t>
            </a:r>
            <a:endParaRPr lang="en-US" sz="1200" dirty="0"/>
          </a:p>
        </p:txBody>
      </p:sp>
      <p:pic>
        <p:nvPicPr>
          <p:cNvPr id="10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26000" y="2006501"/>
            <a:ext cx="355600" cy="177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184775" y="1623616"/>
            <a:ext cx="1822450" cy="943570"/>
          </a:xfrm>
          <a:prstGeom prst="roundRect">
            <a:avLst>
              <a:gd name="adj" fmla="val 7739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40350" y="1829991"/>
            <a:ext cx="156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External Secrets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340350" y="2147491"/>
            <a:ext cx="1562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synchronisiert</a:t>
            </a:r>
            <a:endParaRPr lang="en-US" sz="1200" dirty="0"/>
          </a:p>
        </p:txBody>
      </p:sp>
      <p:pic>
        <p:nvPicPr>
          <p:cNvPr id="14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010400" y="2006501"/>
            <a:ext cx="355600" cy="1778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369175" y="1623616"/>
            <a:ext cx="1822450" cy="943570"/>
          </a:xfrm>
          <a:prstGeom prst="roundRect">
            <a:avLst>
              <a:gd name="adj" fmla="val 7739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524750" y="1829991"/>
            <a:ext cx="156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K8s Secret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524750" y="2147491"/>
            <a:ext cx="1562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 Namespace</a:t>
            </a:r>
            <a:endParaRPr lang="en-US" sz="1200" dirty="0"/>
          </a:p>
        </p:txBody>
      </p:sp>
      <p:pic>
        <p:nvPicPr>
          <p:cNvPr id="18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94800" y="2006501"/>
            <a:ext cx="355600" cy="1778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553575" y="1623616"/>
            <a:ext cx="1822450" cy="943570"/>
          </a:xfrm>
          <a:prstGeom prst="roundRect">
            <a:avLst>
              <a:gd name="adj" fmla="val 7739"/>
            </a:avLst>
          </a:prstGeom>
          <a:solidFill>
            <a:srgbClr val="F9FAFB"/>
          </a:solidFill>
          <a:ln w="6350">
            <a:solidFill>
              <a:srgbClr val="CDD5DD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709150" y="1829991"/>
            <a:ext cx="1562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Pod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709150" y="2147491"/>
            <a:ext cx="15621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envFrom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812800" y="2875161"/>
            <a:ext cx="1088339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Weil der Secrets Manager die Vault-API spricht, funktionieren Standardwerkzeuge: der Vault-Provider in Terraform, der External Secrets Operator im Cluster und die Vault-Action in der Pipeline.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Akt 2: Vom Commit in die Produktion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441"/>
            <a:ext cx="6705600" cy="3479800"/>
          </a:xfrm>
          <a:prstGeom prst="roundRect">
            <a:avLst>
              <a:gd name="adj" fmla="val 2190"/>
            </a:avLst>
          </a:prstGeom>
          <a:solidFill>
            <a:srgbClr val="16202A"/>
          </a:solidFill>
          <a:ln/>
        </p:spPr>
        <p:txBody>
          <a:bodyPr wrap="square" lIns="282482" tIns="231682" rIns="99602" bIns="20628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.forgejo/workflows/deploy.yaml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jobs: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build: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runs-on: stackit-docker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steps: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- uses: https://github.com/actions/checkout@v4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- run: docker login registry.onstackit.cloud ...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- run: docker build ... &amp;&amp; docker push ...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deploy: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needs: build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steps: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- run: kustomize edit set image ...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- run: kubectl rollout status ...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23200" y="1620441"/>
            <a:ext cx="36626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Unterschiede zu GitHub Actions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23200" y="2407841"/>
            <a:ext cx="366268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Ordner .forgejo/workflows</a:t>
            </a:r>
            <a:endParaRPr lang="en-US" sz="1400" dirty="0"/>
          </a:p>
          <a:p>
            <a:pPr algn="l" marL="213360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Actions per voller URL</a:t>
            </a:r>
            <a:endParaRPr lang="en-US" sz="1400" dirty="0"/>
          </a:p>
          <a:p>
            <a:pPr algn="l" marL="213360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Runner-Labels von STACKIT</a:t>
            </a:r>
            <a:endParaRPr lang="en-US" sz="1400" dirty="0"/>
          </a:p>
          <a:p>
            <a:pPr algn="l" marL="213360" indent="-175768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Ähnlich, aber nicht identisch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Akt 3: KI ohne neues SDK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441"/>
            <a:ext cx="6705600" cy="2336800"/>
          </a:xfrm>
          <a:prstGeom prst="roundRect">
            <a:avLst>
              <a:gd name="adj" fmla="val 3261"/>
            </a:avLst>
          </a:prstGeom>
          <a:solidFill>
            <a:srgbClr val="16202A"/>
          </a:solidFill>
          <a:ln/>
        </p:spPr>
        <p:txBody>
          <a:bodyPr wrap="square" lIns="282482" tIns="231682" rIns="99602" bIns="206282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res = await fetch(`${baseUrl}/chat/completions`, {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method: "POST",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headers: { authorization: `Bearer ${apiKey}` },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body: JSON.stringify({ model, messages }),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});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baseUrl = https://api.openai-compat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CE5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   .model-serving.eu01.onstackit.cloud/v1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23200" y="1620441"/>
            <a:ext cx="3662680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OpenAI-kompatible API mit Open-Weight-Modellen aus deutschen Rechenzentren.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823200" y="2626221"/>
            <a:ext cx="366268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Terraform nur ein Token. Aber: Modelle werden ersetzt, Migrationsfristen im Blick behalten.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Keycloak: eine Box im Diagramm, ein Produkt im Betrieb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35981"/>
          <a:ext cx="10553700" cy="2315766"/>
        </p:xfrm>
        <a:graphic>
          <a:graphicData uri="http://schemas.openxmlformats.org/drawingml/2006/table">
            <a:tbl>
              <a:tblPr/>
              <a:tblGrid>
                <a:gridCol w="3166110"/>
                <a:gridCol w="3693795"/>
                <a:gridCol w="3693795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Thema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 der Demo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Für Produktion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2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Verfügbarkeit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 Replika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2+ Replikas, PDB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Updates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Version gepinnt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Staging-Upgrade, Release Notes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Admin-Konsole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öffentlich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nur intern erreichbar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E-Mail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keine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SMTP für Reset, Verifizierung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Konfiguration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Realm-JSON beim Start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config-cli oder Terraform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Die Demo in Zahlen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1639491"/>
            <a:ext cx="3318867" cy="0"/>
          </a:xfrm>
          <a:prstGeom prst="line">
            <a:avLst/>
          </a:prstGeom>
          <a:noFill/>
          <a:ln w="38100">
            <a:solidFill>
              <a:srgbClr val="1620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800" y="1861741"/>
            <a:ext cx="341843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5000" b="1" spc="-10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29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12800" y="2598341"/>
            <a:ext cx="34184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Dateien für Infrastruktur, Manifeste und Pipelines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6467" y="1639491"/>
            <a:ext cx="3318966" cy="0"/>
          </a:xfrm>
          <a:prstGeom prst="line">
            <a:avLst/>
          </a:prstGeom>
          <a:noFill/>
          <a:ln w="38100">
            <a:solidFill>
              <a:srgbClr val="1620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6467" y="1861741"/>
            <a:ext cx="341853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5000" b="1" spc="-10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[__ min]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4436467" y="2598341"/>
            <a:ext cx="341853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terraform apply, leeres Projekt bis Cluster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60234" y="1639491"/>
            <a:ext cx="3318966" cy="0"/>
          </a:xfrm>
          <a:prstGeom prst="line">
            <a:avLst/>
          </a:prstGeom>
          <a:noFill/>
          <a:ln w="38100">
            <a:solidFill>
              <a:srgbClr val="1620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0234" y="1861741"/>
            <a:ext cx="3418535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5000" b="1" spc="-10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[__ min]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8060234" y="2598341"/>
            <a:ext cx="34185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vom Commit bis zur neuen Version live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Reifegrad pro Service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141"/>
          <a:ext cx="10553700" cy="3951982"/>
        </p:xfrm>
        <a:graphic>
          <a:graphicData uri="http://schemas.openxmlformats.org/drawingml/2006/table">
            <a:tbl>
              <a:tblPr/>
              <a:tblGrid>
                <a:gridCol w="2955036"/>
                <a:gridCol w="2110740"/>
                <a:gridCol w="5487924"/>
              </a:tblGrid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Service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Einschätzung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Warum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2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SKE (Kubernetes)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50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Produktionsreif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GA, Terraform, DNS- und Observability-Extension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PostgreSQL Flex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50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Produktionsreif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Terraform inkl. User, DB, ACL aus Cluster-IPs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 Storage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50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Produktionsreif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S3-API, Standard-SDKs funktionieren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DNS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50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Produktionsreif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kostenlose Subdomains, ExternalDNS integriert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Secrets Manager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50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Produktionsreif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Vault-API, ESO und Vault-Provider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Model Serving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4502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Produktionsreif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OpenAI-kompatibel, Modell-Lebenszyklus beachten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Container Registry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6B4A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Einschränkung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Harbor solide, aber kein Terraform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 + Pipelines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6B4A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Einschränkung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Beta in Terraform, Actions nicht 1:1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ALB in SKE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6B4A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Einschränkung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Private Preview, Ingress selbst betreiben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Serverless Container, IdP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7A1F14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Fehlt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kein Pendant zu Container Apps oder Entra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Einordnung gegenüber Azure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33141"/>
          <a:ext cx="10553700" cy="3473648"/>
        </p:xfrm>
        <a:graphic>
          <a:graphicData uri="http://schemas.openxmlformats.org/drawingml/2006/table">
            <a:tbl>
              <a:tblPr/>
              <a:tblGrid>
                <a:gridCol w="2321814"/>
                <a:gridCol w="4115943"/>
                <a:gridCol w="4115943"/>
              </a:tblGrid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Baustein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Azure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STACKIT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2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Container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Container Apps, AKS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SKE, Cloud Foundry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1B2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PostgreSQL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Flexible Server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PostgreSQL Flex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Dateien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Blob Storage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Object Storage (S3-API)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Identity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Entra ID, External ID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selbst: Keycloak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Secrets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Key Vault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Secrets Manager (Vault-API)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CI/CD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GitHub, Azure DevOps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STACKIT Git (Forgejo)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Azure OpenAI, AI Foundry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 Model Serving, Open-Weight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IaC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azurerm, sehr breit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stackit 0.x, wächst schnell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0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spc="-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Für welche Workloads STACKIT heute passt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23616"/>
            <a:ext cx="3380284" cy="2508250"/>
          </a:xfrm>
          <a:prstGeom prst="roundRect">
            <a:avLst>
              <a:gd name="adj" fmla="val 2911"/>
            </a:avLst>
          </a:prstGeom>
          <a:solidFill>
            <a:srgbClr val="E4F2E9"/>
          </a:solidFill>
          <a:ln w="6350">
            <a:solidFill>
              <a:srgbClr val="8CC4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880791"/>
            <a:ext cx="295191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Passt gut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73150" y="2274491"/>
            <a:ext cx="2951912" cy="1358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Containerisierte Web-Apps und APIs mit Kubernetes-Erfahrung im Team, Datenhaltung mit Souveränitätsanforderung, KI mit Open-Weight-Modellen.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09" y="1623616"/>
            <a:ext cx="3380383" cy="2508250"/>
          </a:xfrm>
          <a:prstGeom prst="roundRect">
            <a:avLst>
              <a:gd name="adj" fmla="val 2911"/>
            </a:avLst>
          </a:prstGeom>
          <a:solidFill>
            <a:srgbClr val="FFF6E0"/>
          </a:solidFill>
          <a:ln w="6350">
            <a:solidFill>
              <a:srgbClr val="E3A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880791"/>
            <a:ext cx="295201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Mit Aufwand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2984" y="2274491"/>
            <a:ext cx="2952014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Teams ohne Kubernetes-Know-how, Apps mit komplexem Identity-Bedarf, voll automatisierte Plattformen, die Registry und Runner per Code wollen.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41" y="1623616"/>
            <a:ext cx="3380284" cy="2508250"/>
          </a:xfrm>
          <a:prstGeom prst="roundRect">
            <a:avLst>
              <a:gd name="adj" fmla="val 2911"/>
            </a:avLst>
          </a:prstGeom>
          <a:solidFill>
            <a:srgbClr val="FBE7E4"/>
          </a:solidFill>
          <a:ln w="6350">
            <a:solidFill>
              <a:srgbClr val="E3A2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916" y="1880791"/>
            <a:ext cx="295191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Noch abwarten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52916" y="2274491"/>
            <a:ext cx="295191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Serverless-first-Architekturen, die auf Scale-to-zero-Container oder einen gemanagten IdP angewiesen sind.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STACKIT im Praxistest  · 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3519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FC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Fazit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2024459"/>
            <a:ext cx="10883392" cy="247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200" b="1" spc="-50" kern="0" dirty="0">
                <a:solidFill>
                  <a:srgbClr val="EEF1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Die Bausteine sind da und sprechen offene Standards. Den Komfort einer Plattform darüber baut man heute noch selbst.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4782741"/>
            <a:ext cx="1088339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D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Wer Kubernetes beherrscht, kann produktiv starten. Wer Serverless erwartet, sollte die Roadmap verfolgen.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EF1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479080"/>
            <a:ext cx="75869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i="0" spc="-150" kern="0" dirty="0">
                <a:solidFill>
                  <a:srgbClr val="1620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Eure Fragen</a:t>
            </a:r>
            <a:endParaRPr lang="en-US" sz="7000" dirty="0"/>
          </a:p>
        </p:txBody>
      </p:sp>
      <p:sp>
        <p:nvSpPr>
          <p:cNvPr id="3" name="Text 1"/>
          <p:cNvSpPr/>
          <p:nvPr/>
        </p:nvSpPr>
        <p:spPr>
          <a:xfrm>
            <a:off x="812800" y="3571280"/>
            <a:ext cx="75869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Code, Terraform und Pipelines zum Nachbauen: [Repository-Link]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12800" y="4094460"/>
            <a:ext cx="758698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[Dein Name]  ·  [Kontakt]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91550" y="2038350"/>
            <a:ext cx="2781300" cy="2781300"/>
          </a:xfrm>
          <a:prstGeom prst="roundRect">
            <a:avLst>
              <a:gd name="adj" fmla="val 3425"/>
            </a:avLst>
          </a:prstGeom>
          <a:solidFill>
            <a:srgbClr val="F9FAFB"/>
          </a:solidFill>
          <a:ln w="12700">
            <a:solidFill>
              <a:srgbClr val="4A5563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0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[QR-Code Repo]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CKIT im Praxistest">
  <a:themeElements>
    <a:clrScheme name="STACKIT im Praxistest">
      <a:dk1>
        <a:srgbClr val="16202A"/>
      </a:dk1>
      <a:lt1>
        <a:srgbClr val="EEF1F4"/>
      </a:lt1>
      <a:dk2>
        <a:srgbClr val="4C545D"/>
      </a:dk2>
      <a:lt2>
        <a:srgbClr val="D8DCE0"/>
      </a:lt2>
      <a:accent1>
        <a:srgbClr val="2A55D4"/>
      </a:accent1>
      <a:accent2>
        <a:srgbClr val="AFC3FF"/>
      </a:accent2>
      <a:accent3>
        <a:srgbClr val="D4DEFF"/>
      </a:accent3>
      <a:accent4>
        <a:srgbClr val="4A5563"/>
      </a:accent4>
      <a:accent5>
        <a:srgbClr val="C9D3DE"/>
      </a:accent5>
      <a:accent6>
        <a:srgbClr val="9AA0A6"/>
      </a:accent6>
      <a:hlink>
        <a:srgbClr val="0563C1"/>
      </a:hlink>
      <a:folHlink>
        <a:srgbClr val="954F72"/>
      </a:folHlink>
    </a:clrScheme>
    <a:fontScheme name="STACKIT im Praxistest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STACKIT im Praxistest</dc:title>
  <dc:subject/>
  <dc:creator/>
  <cp:lastModifiedBy/>
  <cp:revision>1</cp:revision>
  <dcterms:created xsi:type="dcterms:W3CDTF">2026-10-06T19:24:37Z</dcterms:created>
  <dcterms:modified xsi:type="dcterms:W3CDTF">2026-10-06T19:24:37Z</dcterms:modified>
</cp:coreProperties>
</file>